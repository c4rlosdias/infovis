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e376788a949d8" /><Relationship Type="http://schemas.openxmlformats.org/officeDocument/2006/relationships/extended-properties" Target="/docProps/app.xml" Id="Re92cee8ef9ba4d96" /><Relationship Type="http://schemas.openxmlformats.org/officeDocument/2006/relationships/officeDocument" Target="/ppt/presentation.xml" Id="R8b8074a32e8c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4e47884874d3b"/>
  </p:sldMasterIdLst>
  <p:notesMasterIdLst>
    <p:notesMasterId xmlns:r="http://schemas.openxmlformats.org/officeDocument/2006/relationships" r:id="R6e5155ead4634eaf"/>
  </p:notesMasterIdLst>
  <p:sldIdLst>
    <p:sldId xmlns:r="http://schemas.openxmlformats.org/officeDocument/2006/relationships" id="256" r:id="R1a2779fa844842db"/>
    <p:sldId xmlns:r="http://schemas.openxmlformats.org/officeDocument/2006/relationships" id="257" r:id="R4b21ba858aeb48ad"/>
    <p:sldId xmlns:r="http://schemas.openxmlformats.org/officeDocument/2006/relationships" id="258" r:id="R14026457b4d046d9"/>
    <p:sldId xmlns:r="http://schemas.openxmlformats.org/officeDocument/2006/relationships" id="259" r:id="Rcb2cc6988d3145b0"/>
    <p:sldId xmlns:r="http://schemas.openxmlformats.org/officeDocument/2006/relationships" id="260" r:id="R3da681825f984b6b"/>
    <p:sldId xmlns:r="http://schemas.openxmlformats.org/officeDocument/2006/relationships" id="261" r:id="R6eb623976dc241b0"/>
    <p:sldId xmlns:r="http://schemas.openxmlformats.org/officeDocument/2006/relationships" id="262" r:id="Rb78350d7bbc14998"/>
    <p:sldId xmlns:r="http://schemas.openxmlformats.org/officeDocument/2006/relationships" id="263" r:id="R7613baf03d9647b1"/>
    <p:sldId xmlns:r="http://schemas.openxmlformats.org/officeDocument/2006/relationships" id="264" r:id="R7b5b94207e4a4019"/>
    <p:sldId xmlns:r="http://schemas.openxmlformats.org/officeDocument/2006/relationships" id="265" r:id="R91730a6cddcc4306"/>
    <p:sldId xmlns:r="http://schemas.openxmlformats.org/officeDocument/2006/relationships" id="266" r:id="Rbc8911496a294825"/>
    <p:sldId xmlns:r="http://schemas.openxmlformats.org/officeDocument/2006/relationships" id="267" r:id="R0f7ebbb6c0174b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179a74af1040c4" /><Relationship Type="http://schemas.openxmlformats.org/officeDocument/2006/relationships/slideMaster" Target="/ppt/slideMasters/slideMaster1.xml" Id="R4a84e47884874d3b" /><Relationship Type="http://schemas.openxmlformats.org/officeDocument/2006/relationships/notesMaster" Target="/ppt/notesMasters/notesMaster1.xml" Id="R6e5155ead4634eaf" /><Relationship Type="http://schemas.openxmlformats.org/officeDocument/2006/relationships/presProps" Target="/ppt/presProps.xml" Id="Rb1e305e4fe2a442b" /><Relationship Type="http://schemas.openxmlformats.org/officeDocument/2006/relationships/tableStyles" Target="/ppt/tableStyles.xml" Id="R9d9a69c85238445e" /><Relationship Type="http://schemas.openxmlformats.org/officeDocument/2006/relationships/slide" Target="/ppt/slides/slide1.xml" Id="R1a2779fa844842db" /><Relationship Type="http://schemas.openxmlformats.org/officeDocument/2006/relationships/slide" Target="/ppt/slides/slide2.xml" Id="R4b21ba858aeb48ad" /><Relationship Type="http://schemas.openxmlformats.org/officeDocument/2006/relationships/slide" Target="/ppt/slides/slide3.xml" Id="R14026457b4d046d9" /><Relationship Type="http://schemas.openxmlformats.org/officeDocument/2006/relationships/slide" Target="/ppt/slides/slide4.xml" Id="Rcb2cc6988d3145b0" /><Relationship Type="http://schemas.openxmlformats.org/officeDocument/2006/relationships/slide" Target="/ppt/slides/slide5.xml" Id="R3da681825f984b6b" /><Relationship Type="http://schemas.openxmlformats.org/officeDocument/2006/relationships/slide" Target="/ppt/slides/slide6.xml" Id="R6eb623976dc241b0" /><Relationship Type="http://schemas.openxmlformats.org/officeDocument/2006/relationships/slide" Target="/ppt/slides/slide7.xml" Id="Rb78350d7bbc14998" /><Relationship Type="http://schemas.openxmlformats.org/officeDocument/2006/relationships/slide" Target="/ppt/slides/slide8.xml" Id="R7613baf03d9647b1" /><Relationship Type="http://schemas.openxmlformats.org/officeDocument/2006/relationships/slide" Target="/ppt/slides/slide9.xml" Id="R7b5b94207e4a4019" /><Relationship Type="http://schemas.openxmlformats.org/officeDocument/2006/relationships/slide" Target="/ppt/slides/slide10.xml" Id="R91730a6cddcc4306" /><Relationship Type="http://schemas.openxmlformats.org/officeDocument/2006/relationships/slide" Target="/ppt/slides/slide11.xml" Id="Rbc8911496a294825" /><Relationship Type="http://schemas.openxmlformats.org/officeDocument/2006/relationships/slide" Target="/ppt/slides/slide12.xml" Id="R0f7ebbb6c017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73b823dd2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3760ef577458d" /><Relationship Type="http://schemas.openxmlformats.org/officeDocument/2006/relationships/notesMaster" Target="/ppt/notesMasters/notesMaster1.xml" Id="Ra40c1a89129e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78807de2f40c0" /><Relationship Type="http://schemas.openxmlformats.org/officeDocument/2006/relationships/notesMaster" Target="/ppt/notesMasters/notesMaster1.xml" Id="Rf71931e10083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c37b33c524114" /><Relationship Type="http://schemas.openxmlformats.org/officeDocument/2006/relationships/notesMaster" Target="/ppt/notesMasters/notesMaster1.xml" Id="R06532c7759c540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2ec55900541ea" /><Relationship Type="http://schemas.openxmlformats.org/officeDocument/2006/relationships/notesMaster" Target="/ppt/notesMasters/notesMaster1.xml" Id="Rfde88d07e7cb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31520d10fe4c38" /><Relationship Type="http://schemas.openxmlformats.org/officeDocument/2006/relationships/notesMaster" Target="/ppt/notesMasters/notesMaster1.xml" Id="Re40e19f2eba848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b92dfb4885416a" /><Relationship Type="http://schemas.openxmlformats.org/officeDocument/2006/relationships/notesMaster" Target="/ppt/notesMasters/notesMaster1.xml" Id="Rb183e57a989c4a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3e0eaa01374153" /><Relationship Type="http://schemas.openxmlformats.org/officeDocument/2006/relationships/notesMaster" Target="/ppt/notesMasters/notesMaster1.xml" Id="Rbb076dfb65da4c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1457d48da48ea" /><Relationship Type="http://schemas.openxmlformats.org/officeDocument/2006/relationships/notesMaster" Target="/ppt/notesMasters/notesMaster1.xml" Id="Rdc2f7931973a47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113ff37c5a4a9e" /><Relationship Type="http://schemas.openxmlformats.org/officeDocument/2006/relationships/notesMaster" Target="/ppt/notesMasters/notesMaster1.xml" Id="R682a6a4db2b848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b82ae7443747c4" /><Relationship Type="http://schemas.openxmlformats.org/officeDocument/2006/relationships/notesMaster" Target="/ppt/notesMasters/notesMaster1.xml" Id="Re570091095b840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469cd4721e4129" /><Relationship Type="http://schemas.openxmlformats.org/officeDocument/2006/relationships/notesMaster" Target="/ppt/notesMasters/notesMaster1.xml" Id="R0f7cb5ca713842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d951a510ad4fb6" /><Relationship Type="http://schemas.openxmlformats.org/officeDocument/2006/relationships/notesMaster" Target="/ppt/notesMasters/notesMaster1.xml" Id="R254280d34fc4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db49e0dab4d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9b92de0a724b93" /><Relationship Type="http://schemas.openxmlformats.org/officeDocument/2006/relationships/slideLayout" Target="/ppt/slideLayouts/slideLayout1.xml" Id="R397c603d2dbf4c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c603d2dbf4c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7a362ae6746b9" /><Relationship Type="http://schemas.openxmlformats.org/officeDocument/2006/relationships/notesSlide" Target="/ppt/notesSlides/notesSlide1.xml" Id="R2af31291b3b0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257a33fbe4565" /><Relationship Type="http://schemas.openxmlformats.org/officeDocument/2006/relationships/notesSlide" Target="/ppt/notesSlides/notesSlide2.xml" Id="Ra6680b08adc848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db23775c14abc" /><Relationship Type="http://schemas.openxmlformats.org/officeDocument/2006/relationships/notesSlide" Target="/ppt/notesSlides/notesSlide3.xml" Id="R922ce8e56c5a45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63607a1b1403b" /><Relationship Type="http://schemas.openxmlformats.org/officeDocument/2006/relationships/notesSlide" Target="/ppt/notesSlides/notesSlide4.xml" Id="Ra0d6df68967846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01c0b21984ed7" /><Relationship Type="http://schemas.openxmlformats.org/officeDocument/2006/relationships/notesSlide" Target="/ppt/notesSlides/notesSlide5.xml" Id="Rcc8c0b94d5034c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54a3fa803467a" /><Relationship Type="http://schemas.openxmlformats.org/officeDocument/2006/relationships/notesSlide" Target="/ppt/notesSlides/notesSlide6.xml" Id="R9c70e3ab310e46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8900169a84f7d" /><Relationship Type="http://schemas.openxmlformats.org/officeDocument/2006/relationships/notesSlide" Target="/ppt/notesSlides/notesSlide7.xml" Id="R292ff4b202af47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0f4d3829d429d" /><Relationship Type="http://schemas.openxmlformats.org/officeDocument/2006/relationships/notesSlide" Target="/ppt/notesSlides/notesSlide8.xml" Id="Rf7c37cae13b645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24971a19646b3" /><Relationship Type="http://schemas.openxmlformats.org/officeDocument/2006/relationships/notesSlide" Target="/ppt/notesSlides/notesSlide9.xml" Id="Rfa6a31c968ab42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e68060e3f4de4" /><Relationship Type="http://schemas.openxmlformats.org/officeDocument/2006/relationships/notesSlide" Target="/ppt/notesSlides/notesSlide10.xml" Id="R68083b748d2f40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58a7e3db04ca8" /><Relationship Type="http://schemas.openxmlformats.org/officeDocument/2006/relationships/notesSlide" Target="/ppt/notesSlides/notesSlide11.xml" Id="Ra2602e594ddf4d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b735df4e74f72" /><Relationship Type="http://schemas.openxmlformats.org/officeDocument/2006/relationships/notesSlide" Target="/ppt/notesSlides/notesSlide12.xml" Id="R98db6400fcf643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0AA16-ECD7-4AE2-941E-E1A8CE74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2F302-CD29-4265-B4EA-196A31E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4B885-25C1-4486-8AE6-B0C6FC6C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InfoVis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2130D-876E-45E1-97C2-115DB42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Visualizador IFC para inspeção, enriquecimento e análise de modelos Oil &amp; Gas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54FE0-8FE2-45B1-98ED-C40B9AE3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4177E-1DD7-4FA5-ABA4-CB64CBBD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Blender 5.0+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CADF0-D5F0-4070-8C95-A02AD828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670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B4218-40D0-4694-AD87-624046F0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337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IFC + Bonsai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7B8AD-2E2E-43B0-8FA0-599074E9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DD6B3-717D-4EBB-81EB-DD1B273F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337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bSDD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BE8E3-8283-4D80-9785-17E09CA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010E7-691F-4AD8-B6CE-3D6EF659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337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Subsea dictionaries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98B3F-B7B5-42C1-99B2-12BBA94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71550"/>
            <a:ext cx="3143250" cy="4000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77AA2-E940-44F6-9448-2959B8D0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95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Feature clusters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7ED96-6E6B-4852-A146-2FE7E40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D3E75-FE51-465A-A44F-FF1B6F0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28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5493F-2DB5-4393-820F-416897F4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A7C47-6848-4010-8F40-F49EFF1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2105E-F565-4B9F-B759-6C21545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513CA-E912-41E3-A08D-23EAA25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717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Occurrence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296FD-C8CC-4934-B45C-349B9547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0AD69-02BE-4609-9C61-B5F76F3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68E43-461D-4B38-BC4B-433B9838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679EF-9741-4705-B096-8EBD181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1EC5F-E526-4C91-9960-0FB721FE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89E54-E4A9-4F03-B46D-BA7122EE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76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98946-7B7A-4AE7-8A83-BCA92C83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21FB8-AD64-4049-A4C6-7FD90EE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CAD15-98B3-4219-B34E-EAA9264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29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02002-E1CC-4236-97D1-C7CCF5BE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7E2AF1-1E07-4E8C-A212-E66051EA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README.md; docs/extra/SUMARIO_EXECUTIVO.md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BD0448-21B7-4571-AE36-5922D0F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0ACBD7-38E2-4081-BCA8-9D21B703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81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1C6623-6231-4801-A2A7-9B1BB865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Visualizador IFC para inspeção, enriquecimento</a:t>
            </a:r>
          </a:p>
          <a:p xmlns:a="http://schemas.openxmlformats.org/drawingml/2006/main">
            <a:pPr>
              <a:buNone/>
              <a:defRPr sz="187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e análise de modelos Oil &amp; Gas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AE7D61-E03A-41B3-A939-662E3D0E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08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6418B-F795-487D-93EE-8401B284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3615F"/>
                </a:solidFill>
                <a:latin typeface="Aptos"/>
                <a:ea typeface="Aptos"/>
                <a:cs typeface="Aptos"/>
              </a:rPr>
              <a:t>Visualizador IFC para inspeção, enriquecimento</a:t>
            </a:r>
          </a:p>
          <a:p xmlns:a="http://schemas.openxmlformats.org/drawingml/2006/main">
            <a:pPr>
              <a:buNone/>
              <a:defRPr sz="1875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3615F"/>
                </a:solidFill>
                <a:latin typeface="Aptos"/>
                <a:ea typeface="Aptos"/>
                <a:cs typeface="Aptos"/>
              </a:rPr>
              <a:t>e análise de modelos Oil &amp; Gas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33E404-4D1F-4D50-B497-D6B2FAD5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8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661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319F6-CDD9-48B9-9BF5-E62F88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O QUE 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C1327-D229-4422-A98D-EC894454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Visão executiva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F0961-9E07-4C67-AC46-06652C4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FA104-3A5F-4C2B-9863-2352CBB4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0.1.2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CC82A-9E4F-4DB0-BB7C-D573C850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versão atual no código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6662-D772-4629-85FB-055342DF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2875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FE87D-7932-4DA6-AE1A-7B3CECE1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Blender 5.0+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9734A-00C0-48F5-BC33-2B5C175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ambiente alvo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ABCF8-B4CC-4D57-ACC8-B654428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CE358-1C1F-4B4D-870E-9E22FD5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C03AD-7B3F-4E37-8307-4BA8E36D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add-on modular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EF43A-5A24-4610-B357-06915A20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C8CE7-589B-4086-A954-B73FB72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IFC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493E8-4015-4C90-9E88-583A0D9A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modelo e dados técnicos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1F688-0F80-4C4C-AA14-4E6E8804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7A207-8E98-466E-9517-357B4A9D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26FA2-48DA-469F-8B63-48609B06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Problema que resolve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F3A15-C4BC-415A-B903-806CB7F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Centraliza inspeção, navegação e enriquecimento de informações IFC dentro do fluxo visual do Blender.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B700A-6E30-46FE-9FE7-ECBCA4E4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883DA-440B-42E4-AEE3-F21B4777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40451-3FE1-4D17-B299-7B462B1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Valor para engenharia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88995-9149-41E5-ACB6-4F304D1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Ajuda a navegar decomposições, propriedades, documentos, tipos e conexões sem depender apenas de tabelas externas.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0F64B-E700-4035-BCF0-5A7644D3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238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FADE7-DEFD-4EC6-B8A0-6616990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4D0B2-E8F4-49EF-90A9-4692D8D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Valor para dados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BF5DC-0A94-4E19-91CA-D4776D1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Apoia classificação bSDD, geração de IDS, exportações Excel e análises visuais por propriedades.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E2F51-53FE-4282-8E33-5234AEF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15D32-F543-4B81-B97E-EA1A3AF1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README.md; docs/ARCHITECTURE.md; docs/extra/SUMARIO_EXECUTIVO.md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4B2858-D88A-43D3-8F1A-19D4489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6854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75F47-AC18-477D-9548-8E402C0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FEATURE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B67D4-217E-4EAA-8EA9-A4988D7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Mapa de capacidades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42A5D-A9DA-43A4-B6F4-377473C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318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0DD4-0810-4816-B317-C48DE24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EE705-4609-437C-9312-F78A6108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E6D01-4F99-4331-8718-F5291681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bSDD, classes, propriedades, metadados, templates e IDS.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E70DF-AC54-4CF1-B1BC-2D80B6A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18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58172-13F8-484B-A797-37C381C8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6CFB6-39EE-4748-B806-20283BEB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383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Occurrence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97FBE-C735-4D44-88CA-03BACDD4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Decomposição, seleção hierárquica, edição de nesting/aggregation e conexões.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EEE24-DDB0-48AC-B50F-ECFE858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318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F06E4-ACBC-4B60-91BB-9BC0CA3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AD226-BEF2-446C-B75C-08108E9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Catalog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4C09F-8FCF-49FA-A354-23644DD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Tipos IFC, instâncias, camadas, quantitativos, LI Mapping e exportações.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3DFE4-09E2-44D0-A1B0-F07197A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18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D56A6-991E-43F3-BBFD-3BB0698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FC30F-BB9B-48D3-AB80-3231DD3B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Properties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00FFC-B099-4F96-875E-369E32D7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Psets, propriedades de tipo/ocorrência, documentos e gráficos.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970F5-F079-4DBA-91DE-68D8EE5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318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6C0B7-14BD-4E4E-8868-B333EAE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28B5B-FCC0-45F4-BD68-50B54482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286D0-18FB-4557-A528-9C73B72B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Colorização por propriedade: valores distintos, valor exato ou faixa numérica.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A9A55-4849-438A-88AC-346EE796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318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B5B74-2AFB-4344-8106-69A53AFB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E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4F48C-D449-4FAE-9AC5-33DC7B5D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034DB-92A7-423F-98BF-5FB962EE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Labels IFC na viewport e views de decomposição configuráveis por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06206-D83F-4073-9CF1-344E8B40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AFD1E-3C6F-483A-9E90-BC3B4AF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README.md; modules/__init__.py; docs/guides/PANELS_DOCUMENTATION.md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B80E6-307D-4136-90D6-25AB9E3D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4638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A2E3A-6B69-423F-BE79-3F1ACC2A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OCCURRENCE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9BB1E-2029-495A-8CD6-4BCF0C14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Navegação IFC e decomposição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5DA60-8715-4480-B36C-C2F6AD33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9134B-B9F5-47A6-819D-0F986F29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Root 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E1826-A8E0-4A35-ABC4-167E719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IfcProject, IfcInventory, IfcProjectOrder ou view customizada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9E1E3-3544-4A8A-833D-4A13FBC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1336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B3AB-5702-43EE-B6E0-5EA5665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A6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58788-CE7D-484E-9858-D1DF93E1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8AA6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AA63F"/>
                </a:solidFill>
                <a:latin typeface="Aptos"/>
                <a:ea typeface="Aptos"/>
                <a:cs typeface="Aptos"/>
              </a:rPr>
              <a:t>Relações IFC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F0EB1-7A69-48D3-8F74-BC0156E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IsGroupedBy, ContainsElements, IsDecomposedBy, IsNestedBy,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8B448-7AFE-489C-8627-7B112193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336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FA56E-5617-4022-8284-A32C86CB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3BCC9-0138-4035-A88A-81F743D2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2B84B"/>
                </a:solidFill>
                <a:latin typeface="Aptos"/>
                <a:ea typeface="Aptos"/>
                <a:cs typeface="Aptos"/>
              </a:rPr>
              <a:t>Árvore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AB2BF-BC27-4C2E-BF7B-CCB08A9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UIList hierárquica com expandir/colapsar e seleção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02572-FA9A-4620-9E6F-48AC7100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1336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EE067-0AE1-4793-A3A0-726B334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E5549-C624-4E4B-893E-93F38724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95D39"/>
                </a:solidFill>
                <a:latin typeface="Aptos"/>
                <a:ea typeface="Aptos"/>
                <a:cs typeface="Aptos"/>
              </a:rPr>
              <a:t>Ações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CEE3B-DF56-449C-AFC9-7DB0B570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selecionar filhos, mover, reordenar e exportar Excel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AF5A9-734A-40A3-9A9A-EC26AD4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579CD-91F0-42B1-8C55-A9754026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A3A8E-3286-41C3-8C75-EAB4770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Views configuráveis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B3D19-1492-45B4-A8BF-4DE63C5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440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O arquivo decomposition_view.json define id, label, classe IFC raiz e pares de atributos exclusivos de cada relação IFC.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435E4-1741-40AA-8AB5-CFD6F0D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8372D-A689-448B-835E-2F370879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54F30-CC55-4601-BB4B-FCB1631D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Operações de estrutura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E06709-CAA3-43C9-8BB6-ACB597D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40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 edição controlada usa APIs IfcOpenShell para nest e aggregate, com refresh da árvore depois da operação.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24815-EF62-4655-B4CA-9858788A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3651F-D115-4120-A855-0F9A7C75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modules/decomposition/*; data/tree.py; resources/decomposition_view.json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C0A5A-DB68-49A9-99FC-CE9DBFDE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5135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AA295A-EB64-4958-B463-B809F887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7A24A-F9C4-4923-B90D-6EE2C44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Dicionário bSDD e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4709-D803-4F1B-8392-DED93ED2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969ED-8349-4297-B6B4-4020271A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D288E-AE0F-4B9D-99E0-2937DD7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02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Consulta a dicionários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C4374-4893-45E0-AA9B-4284915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Seleciona versões bSDD e busca classes/propriedades de domínio para apoiar classificação técnica.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0E4FB-BFFF-4DDA-A1BC-5C17363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1F01E-0984-4D15-955C-D474CDD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DBC25-5BCD-4DC3-80F0-4AA548C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Metadados navegáveis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06B1C-9710-4CCF-BF49-D8D0A27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Exibe definição, descrição, tipo, data de versão, IFC class, unidades e classes relacionadas.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370A8-1344-4A9E-95AC-ED783749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01ED9-E81E-4CB2-A241-74CF212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7F9F5-E554-4754-9B68-13C3F10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02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Aplicação no modelo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852EF-08A6-4AFB-9CA6-DCB2A3C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Adiciona property set templates e propriedades selecionadas aos objetos IFC.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81EB9-6139-43B0-A081-BBCFDDBB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9563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1EAA1-6768-4AA0-83E1-5C76514A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D95D3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D95D39"/>
                </a:solidFill>
                <a:latin typeface="Aptos Display"/>
                <a:ea typeface="Aptos Display"/>
                <a:cs typeface="Aptos Display"/>
              </a:rPr>
              <a:t>Saída de governança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C74C5-3828-49FF-AF53-9E1480AF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Exportação de IDS para validar requisitos de informação e manter rastreabilidade entre dicionário, propriedades e modelo.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68799-71AD-40AB-91A0-C447DB56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8008D-B1EF-4670-9A8C-FB2F7E4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modules/dictionary/*; data/bsdd.py; docs/guides/OPERATORS_DOCUMENTATION.md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5887E-28B9-4B36-9DBE-3188EAB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4425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813FA-9D4B-48AD-8D75-62FBFA5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14839-7D88-45E8-9815-20B10E6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Propriedades, documentos e gráficos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7FEFA-2BA3-4697-9A41-E10C2E9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956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F684C-237A-458F-A04D-88735D95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64DDF-45E9-4EC4-81F0-BDCD5765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Psets do objeto ativo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E56E8-4387-4643-93D6-549699E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Carrega propriedades de ocorrência e propriedades herdadas de tipo para inspeção no painel.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29C80-9F6B-4E4C-B893-35B5C4B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90650"/>
            <a:ext cx="32956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BB05C-6F8D-4893-90A8-3F4ECBF2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906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FE3F8-8706-4453-A4FC-401989A4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62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Edição de valores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9599C-88E5-4A73-ACF4-291D4E3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Suporta valores simples, enumerados, listas e tabelas, com bloqueio por autenticação.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AF497-8E4E-4E11-B63F-79D56E43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2956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F7878-7BDB-4E4A-B9C8-D32A1FB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F314F-4569-4C68-A90A-4BB8EDE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Documentos IFC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3F12E-833B-46DF-8495-1C69F781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Lista, edita, carrega e abre referências documentais associadas ao elemento ou ao property 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B2B17-5E00-4982-B6E3-6722E954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4572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C9FF3-E271-4945-9913-8EF0192E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D95D3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D95D39"/>
                </a:solidFill>
                <a:latin typeface="Aptos Display"/>
                <a:ea typeface="Aptos Display"/>
                <a:cs typeface="Aptos Display"/>
              </a:rPr>
              <a:t>Gráficos e 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470F1-94EF-42E6-904F-3602F5BF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Gera HTML com gráfico Matplotlib a partir de tabelas IFC ou documentos CSV, com seleção de eixos e interpolação.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AF2D5-4ED2-46AC-86D2-3CD37675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572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6DE4F-7915-41AE-B821-A6A3DA4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6F5AA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6F5AA8"/>
                </a:solidFill>
                <a:latin typeface="Aptos Display"/>
                <a:ea typeface="Aptos Display"/>
                <a:cs typeface="Aptos Display"/>
              </a:rPr>
              <a:t>Labels na viewport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A9585-26F7-42BE-BA07-04DED44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Permite escolher atributos IFC e propriedades Pset.Property para exibir como overlay, com offset configurável.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C1EA2-2291-4B90-9743-2D3A9AD7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3ADFA-DE98-4305-A295-ADF8BDB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modules/props/*; modules/settings/*; data/ifc_utils.py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FC4F0-F3F1-4261-82F5-C8F9C21F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6680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C5A69-8F27-4F2C-8CFD-E599A1B5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A60BB-A47D-4EAE-A763-143B4CDD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Catálogo, camadas e quantitativos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9B7AF-6597-43FB-A61F-44D521E1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8A244-35FF-40BB-81D6-D5C1FE98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IfcTypeProduct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F9845-A8FE-4F56-8081-F053ACE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agrupa tipos do modelo e calcula quantidades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18B39-A717-4FF2-AC95-D7C4344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1336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171CA-239E-48EC-BF71-09235013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A6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595CE-32EB-49DE-9601-FAB1BCC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8AA6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AA63F"/>
                </a:solidFill>
                <a:latin typeface="Aptos"/>
                <a:ea typeface="Aptos"/>
                <a:cs typeface="Aptos"/>
              </a:rPr>
              <a:t>Instâncias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CD086-CFC0-46B9-B634-898BE166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seleciona todos os elementos de um tipo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F1F81-6359-49D1-8BDF-C20DA2E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336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F2172-1D15-463A-9FFB-F4E6F08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FB4DC-FD5C-4FF3-ADDD-3FAB86F8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2B84B"/>
                </a:solidFill>
                <a:latin typeface="Aptos"/>
                <a:ea typeface="Aptos"/>
                <a:cs typeface="Aptos"/>
              </a:rPr>
              <a:t>Camadas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3F981-9705-4F2B-9567-CF68CFD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inspeciona componentes aninhados do tipo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5102B-AFCA-457D-A6FD-38A557E3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1336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7660E-6066-4798-A90B-BE8E796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6954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C45FB-EC0D-4A1B-99FD-BCD7D4F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18478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95D39"/>
                </a:solidFill>
                <a:latin typeface="Aptos"/>
                <a:ea typeface="Aptos"/>
                <a:cs typeface="Aptos"/>
              </a:rPr>
              <a:t>Exportações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45568-2D77-4240-B704-EA9AB2A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1526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XLSX de quantidades e relatório HTML de camadas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732D5-6428-4FD4-8AF4-22F81EA9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343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32932-2AD9-4996-B871-60D0145C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37DBB-34A5-4A20-8146-4730653D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Relatório de camadas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155E6-C827-40D4-9BF7-C5B0475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388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Gera HTML com propriedades do tipo e tabela dos componentes/layers, útil para revisão de estruturas de dutos flexíveis.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01DFE-D281-4566-B5D0-DA25B9D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4343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22C99-B61E-4D8E-89E2-403932C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E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82D26-9F30-45B7-8A93-E18F6591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Export Quantities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6542A-401B-43D7-AC29-9071A267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388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Exporta nome do tipo, quantidade e unidade para planilha Excel, criando uma ponte entre modelo e levantamento.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EB7D5-5A13-4CB9-9E0D-7AE63EA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6C1D9-29A5-41A9-8A2C-27FDB28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modules/catalog/panels.py; modules/catalog/operators.py; resources/ifc_types.json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873D8-C01F-484B-9858-D14FC43B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754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873FB-FF7E-403C-8849-20F48AF8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CATALOG / 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44DBA-5B89-43AB-811C-EA0D6058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LI Mapping e exportação de listas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99241-AFB6-4934-A591-3C7E636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8FA5B-E691-4199-98B2-3CCEE354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Fonte IFC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9BD38-D50A-4617-B428-EFAA8CF0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906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Atributo, Pset, Qto, classe, espacial, ancestral, calculado ou manual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FDD01-D43C-48D2-AFD2-912A4D5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0D35C-9AF3-4005-9490-F72CA18D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AA63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8AA63F"/>
                </a:solidFill>
                <a:latin typeface="Aptos Display"/>
                <a:ea typeface="Aptos Display"/>
                <a:cs typeface="Aptos Display"/>
              </a:rPr>
              <a:t>Mapeamento guiado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F85DA-7D63-40A7-A038-5DC6BEA7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Campos exibidos conforme source_type e seletor bSDD para Pset/Property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F5CB7-FE27-4F36-9AF5-231DE746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668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E8887-F615-4E58-B7E9-4F8D7DE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rPr>
              <a:t>Tabelas de apoio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0E65B-8E4E-4E32-81A7-537EB577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Mapeia classes, templates de descrição e regras de quantidade por classe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ED69D-8D2B-418D-B9E6-10DDF138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668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36C45-492C-4075-867C-79B3FC47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D95D39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D95D39"/>
                </a:solidFill>
                <a:latin typeface="Aptos Display"/>
                <a:ea typeface="Aptos Display"/>
                <a:cs typeface="Aptos Display"/>
              </a:rPr>
              <a:t>Saída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E1321-C521-49F0-85F7-5E2CD9F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052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Gera Excel da LI a partir dos tipos e ocorrências do modelo IFC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CCFE5-0ED7-485C-8A3D-4282DAE3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03634-7814-4D96-9C7A-194C08F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modules/catalog/panels.py; modules/catalog/operators.py; resources/li_mapping.json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EE618-1E91-476F-8165-A36B6A2A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1553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8E326-3B3C-4FEE-B6BE-3FE2DA4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383B1-6209-4365-BEF7-7DF93680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Análise visual por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0D5F0-9005-4E20-97BA-B28A39E5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3295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5B0DC-80FA-47A7-9667-8B5E0585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FCE81-7693-4481-B27B-5D79AC7B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Seleção semântica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5FA7C-1A05-4956-8CA1-26D07ACF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Escolhe disciplina, ObjectType, property set e propriedade com base nos dicionários locais de domínio.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680AD-714D-42A6-AC97-B75918DD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3295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53B4C-4BD3-444B-A9FA-63B0998E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73AAF-3313-4877-86BB-5E2B3AF5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Modos de cor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E5031-0BD0-4C6C-A6C7-D059226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Agrupa valores distintos, destaca um valor exato ou aplica gradiente por faixa numérica.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74A50-1681-4759-96C8-C981394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295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13477-31D4-4021-9AC0-79A122A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9C2E4-6155-4009-9FB1-8299C9F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Legenda e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3F803-6B8D-4741-BFF0-A132079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Exibe legenda com contagens, valores sem correspondência e elementos fora da seleção.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72F88-2C24-4323-AA07-A35C4F1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43300"/>
            <a:ext cx="8953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BDDDA-C458-4D0C-A9F5-8301C038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86200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5750B-F439-4ED4-959E-F0FDC8F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1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Valor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F6EC3-E0D7-4D5E-85DC-A9E55C57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86200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92CA2-7EC5-4313-944A-E954424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81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Valor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423B8-BEF2-4384-909D-117AC45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86200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8C96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B666E-751D-4F4E-B10D-B736429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Sem valor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E5A22-B989-41CA-B373-B31C962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86200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575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94E31-937B-47FC-BE7F-4EC053AB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Outros elementos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3158-1832-4CFA-BC84-6E846F9B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5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0A03C-AF1E-4495-A889-5C0DA5E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Range 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F33303-6FB3-4681-AAE1-86578BD6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80752-05F5-4D71-ABDD-3EDE7A7C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modules/analysis/service.py; modules/analysis/panels.py; data/bsdd_dictionary.py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8DF06-1356-4093-B3BC-AC39EA7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72874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33DB0-7965-42CD-A7A7-511A958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CONNECTIONS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021C-DF96-4BFF-9842-06C83C9B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Conexões IFC e edição controlada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DDB83-85B1-485A-84A3-6D678072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43CB-1C61-4160-94B2-D7F0AC3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Selecionar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E1EB2-4198-4D0C-8EAA-0C67DEB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usa objetos ativos/selecionados no Blender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36BF4-85A9-4A4D-AD7B-B4D55C54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0574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E1A1E-7BC1-4D11-8B77-4201B5E9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6192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A6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8BF1E-4F87-496E-A47B-F4C18DAE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7716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8AA6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AA63F"/>
                </a:solidFill>
                <a:latin typeface="Aptos"/>
                <a:ea typeface="Aptos"/>
                <a:cs typeface="Aptos"/>
              </a:rPr>
              <a:t>Inspecionar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E9885-7B39-4D5B-B311-897909B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0764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ConnectedFrom, ConnectedTo e IsConnectionRealization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7C926-A5DA-4A2C-B353-F3D13DD2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96E57-136A-4798-B749-91C11CB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192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FCDBB-31F7-48A1-95B3-5C35271A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716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2B84B"/>
                </a:solidFill>
                <a:latin typeface="Aptos"/>
                <a:ea typeface="Aptos"/>
                <a:cs typeface="Aptos"/>
              </a:rPr>
              <a:t>Criar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35EE9-3594-49C2-9C7D-DE43E69C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IfcRelConnectsElements, Ports ou RealizingElements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A87BC-51CE-402E-A2D6-67A989C3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0574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7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658E9-54CD-45A1-ABF9-2594C30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619250"/>
            <a:ext cx="25860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28365-B1BE-4C90-8A22-3583D18E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1771650"/>
            <a:ext cx="22812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95D39"/>
                </a:solidFill>
                <a:latin typeface="Aptos"/>
                <a:ea typeface="Aptos"/>
                <a:cs typeface="Aptos"/>
              </a:rPr>
              <a:t>Remover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3319F-6815-40F6-A1F7-A5B5B32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076450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disconnect com autenticação de editor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EDE84-953C-45FA-AEAB-AEBCAA4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4476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D6EA6-DCD6-42A2-8073-562DE22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59A37-D299-451A-A19F-D257AE1B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Modelo de permissão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01037-758A-4E7C-A3A4-FE685922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4019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Operações de edição e mudanças estruturais usam autenticação simples do add-on para separar visualização de edição.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D4426-1F67-413E-A902-70459CCD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4476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D77F1-B988-4714-A275-E1F9108A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E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11041-1F39-417A-A5B4-74CBB34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Seleção guiada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5F26B-4D74-4E62-AAAF-D36B7EB0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4019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O painel usa pointer properties do WindowManager para escolher elementos A, B e, quando necessário, elemento realizador.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43A8B-2560-4102-A0AD-5BD5E14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6B6ED-1976-4D7F-8CA2-5EC2649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modules/connections/*; auth.py; __init__.py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3F404-2388-44EF-B4AD-5CCC06FA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4593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D9707-2E1A-48E4-BBD8-BB306B41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A3C55-FB6F-4B1C-95AA-D8CFA48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Configuração, arquitetura e distribuição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061A0-413D-4A4A-8362-FF10AAD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415FC-1173-4CAD-864A-8D023AAB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E7889-3335-43EB-9D8C-E8C4A42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Estado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5605F-E577-43EE-A7BA-0F77005D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971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OG_Properties concentra coleções, flags, callbacks e seleções usadas pelos painéis.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65238-26F9-46DC-A5F1-FD01D0BF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716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570ED-313B-4ECF-9A0E-7A48193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716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C4FD8-D4A2-4FB9-A95B-A983019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43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Módulos por domínio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F0FEC-8B4C-4CCB-890A-AC671C78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24050"/>
            <a:ext cx="2971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Dictionary, decomposition, catalog, analysis, connections, props, types e settings.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C4D38-8A52-48D9-AC5C-05C55F35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716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31375-92F0-48F1-8D8E-420E75B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716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1BACE-9DC7-4FCF-A14F-DC341AD7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43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Data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071C4-1DD8-4B34-B70D-587F317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971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bSDD, CDE, catalog, tree, IFC utils e dicionários locais ficam fora da UI.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C9DC3-7CF7-40E2-9C14-3BDB08C7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93E0E-3A47-4E87-8498-6F35634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6D9A9-716F-46B6-8A5C-44769C4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814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Empacotamento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2FE76-53CA-4ADC-B5B4-FE7A1FA3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354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Windows usa libs embarcadas; Linux/macOS instalam dependências ausentes no Python do Blender.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AE320-D27A-48E6-A05B-F8F5095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01848-63F1-4B61-A755-1AE38299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BF3D3-7ADE-49C5-8279-53BDEEEF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Personalização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1396B-F44F-4AC3-9687-3DA463A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354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JSONs em resources controlam tipos, unidades, LI mapping, dicionários de domínio e views de decomposição.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49FF2-FB78-4110-BD0F-9050A400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08C1E-0E76-4FB1-A04F-2491E658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docs/ARCHITECTURE.md; modules/og_properties.py; resources/*.json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96E66-5CA8-4417-B754-AD3AEC6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9976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DC48B-A567-443D-A6F3-DAC22DC0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3E2D1-4A4F-456E-B987-5C35CBA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Narrativa sugerida para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057B3-803B-47E8-9437-C8248D8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• 1. Abrir IFC e selecionar objeto: propriedades e labels respondem ao contexto.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• 2. Navegar decomposição: alternar Assets, Contracts, Inventory ou view configurada.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• 3. Consultar bSDD: classe, propriedades e exportação IDS.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• 4. Revisar catálogo: tipos, instâncias, camadas e quantidades.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026"/>
                </a:solidFill>
                <a:latin typeface="Aptos"/>
                <a:ea typeface="Aptos"/>
                <a:cs typeface="Aptos"/>
              </a:rPr>
              <a:t>• 5. Aplicar análise visual por propriedade e exportar LI/planilhas.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BBE80-674C-4F49-A641-605718F4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7160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FC235-9B45-4F2A-A4FA-0ABC69B9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Mensagem-chave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5190-A1B8-4554-8849-26F8C0F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324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InfoVis transforma o IFC em um ambiente navegável, editável e analítico dentro do Blender, conectando geometria, propriedades, dicionários e entregáveis.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20F58-6BB2-41F6-8C32-6635295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9525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4DBA9-5EF3-4C84-95A7-ECB8DDE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1E4EA-A066-4D0E-B840-D932DD4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visão geral, capacidades principais, estrutura do repositório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8ED08-2C35-4721-952F-A33E7EE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9525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116A4-F203-4C77-9042-BF9334A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28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docs/ARCHITECTURE.md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B0F64-F843-40F5-9FB7-00E850EE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arquitetura, ciclo de vida, módulos e camadas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FBC1E-C883-4EA0-A754-180B61D3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9525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7A285-C50A-42BB-B37A-FA27AE7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docs/guides/*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D08E2-0A63-40FF-B31F-C4C6F5BF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337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painéis, operadores, dados e propriedades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B9F1F-3DC9-4FAB-81CB-2B044B4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525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1C93C-B3A8-4B09-A45E-B650115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00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modules/*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EBB14-185A-490C-BEFA-67171A10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95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features efetivamente registradas no add-on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67B99-7C0E-47E1-95E5-B2586CF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525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1751C-7BD2-45AE-B6A3-BB8ABF7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86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resources/*.json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8657C-DC47-485C-83F0-56F8D74E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053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views de decomposição, LI mapping e dicionários de domínio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5FCCD-1303-4F2F-B847-FE96F492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5E13C-D8E0-468E-B754-0DB56686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 i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Fontes: README.md; docs/*; modules/*; resources/*.json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59C10-19F7-4B47-94AC-29E29488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7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B35F6-869B-4C32-9E97-F1A660B1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1219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432EB-6B4E-400F-8515-2B7A04CF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638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1. Abrir IFC e selecionar objeto: propriedades e labels respondem ao contexto.</a:t>
            </a:r>
          </a:p>
          <a:p xmlns:a="http://schemas.openxmlformats.org/drawingml/2006/main">
            <a:pPr>
              <a:buNone/>
              <a:defRPr sz="14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2. Navegar decomposição: alternar Assets, Contracts, Inventory ou view configurada.</a:t>
            </a:r>
          </a:p>
          <a:p xmlns:a="http://schemas.openxmlformats.org/drawingml/2006/main">
            <a:pPr>
              <a:buNone/>
              <a:defRPr sz="14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3. Consultar bSDD: classe, propriedades e exportação IDS.</a:t>
            </a:r>
          </a:p>
          <a:p xmlns:a="http://schemas.openxmlformats.org/drawingml/2006/main">
            <a:pPr>
              <a:buNone/>
              <a:defRPr sz="14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4. Revisar catálogo: tipos, instâncias, camadas e quantidades.</a:t>
            </a:r>
          </a:p>
          <a:p xmlns:a="http://schemas.openxmlformats.org/drawingml/2006/main">
            <a:pPr>
              <a:buNone/>
              <a:defRPr sz="14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5. Aplicar análise visual por propriedade e exportar LI/planilhas.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CB753-9C2F-4324-A97B-E223085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22E77-BBD9-48BF-A8C6-B8CFDC9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666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7D9CF-F4FF-47F0-B105-C257C888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811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E777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E7774"/>
                </a:solidFill>
                <a:latin typeface="Aptos Display"/>
                <a:ea typeface="Aptos Display"/>
                <a:cs typeface="Aptos Display"/>
              </a:rPr>
              <a:t>Mensagem-chave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BB3CC-8370-485A-B616-2A7BBF95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2686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InfoVis transforma o IFC em um ambiente navegável, editável e analítico dentro do Blender, conectando geometria, propriedades, dicionários e entregáveis.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ACC2E-558B-4854-8260-B5A93E8E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048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32771-8B6D-4584-B20B-02901B30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774"/>
                </a:solidFill>
                <a:latin typeface="Aptos"/>
                <a:ea typeface="Aptos"/>
                <a:cs typeface="Aptos"/>
              </a:rPr>
              <a:t>README.md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0EBD4B-A162-44D5-A893-9FE75536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capacidades e estrutura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D6F91B-F80F-4EA4-AA06-CEC20E21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048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5BBBDE-E486-46DA-B942-10F5B235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AA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A63F"/>
                </a:solidFill>
                <a:latin typeface="Aptos"/>
                <a:ea typeface="Aptos"/>
                <a:cs typeface="Aptos"/>
              </a:rPr>
              <a:t>docs/ARCHITECTURE.md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4A68B-EB2F-4E2E-9B83-B45A85BF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arquitetura e ciclo de vida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1DBCF8-5087-449E-8410-61789EC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048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D2777C-7682-46DA-A77C-757BFC84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docs/guides/*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7EFEBF-8525-4AFC-B0E7-29FE48DB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14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painéis, operadores e dados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97BA4-37A2-4F6A-9235-558A859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86300"/>
            <a:ext cx="3429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A7A9B0-3024-47C8-820F-7B6D4099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modules/*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2A112C-D8E8-4463-81B4-F2AAF903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006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features registradas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012ADD-E0DF-474A-82D9-00993F4F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3429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D62AD7-0CC3-4102-B131-48955095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F5A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5AA8"/>
                </a:solidFill>
                <a:latin typeface="Aptos"/>
                <a:ea typeface="Aptos"/>
                <a:cs typeface="Aptos"/>
              </a:rPr>
              <a:t>resources/*.json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7C99FC-2407-4BCE-BE5A-650956E8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006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configurações e dicionários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293530-1761-44D6-842F-3DB866CE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85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5C7008-1E3B-4123-97B7-7F0104E3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048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B9AF3C-0E85-4EDF-BCC3-AEC22312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E77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774"/>
                </a:solidFill>
                <a:latin typeface="Aptos"/>
                <a:ea typeface="Aptos"/>
                <a:cs typeface="Aptos"/>
              </a:rPr>
              <a:t>README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F3DEC5-8AD3-4F77-A962-4E9E7A69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capacidades e estrutura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B7E0A0-76A8-481D-A755-4715CC5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048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BDE29E-DE62-4959-922E-B5113E57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AA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A63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111B5D-0FBE-46A0-91FB-369553CA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14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arquitetura e ciclo de vida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A41DAF-6A5A-4D59-86B0-2BD1071F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048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188A53-D27C-4455-8080-81F8B0B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Guides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4AF5-DF5A-4845-A99C-A830F003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painéis, operadores e dados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655581-0AD6-4936-87A0-0465D09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86300"/>
            <a:ext cx="3429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2A2B46-C7EC-4526-8191-BEAFB69C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81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Modules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8D16D3-6829-460B-B3B2-4BCF7C0C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00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features registradas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3823AF-AEA4-4E79-B44E-B44133A8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3429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822330-082C-41D1-9D4C-025B811D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F5A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5AA8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18169A-C35C-456A-865A-F82AA702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00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361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15F"/>
                </a:solidFill>
                <a:latin typeface="Aptos"/>
                <a:ea typeface="Aptos"/>
                <a:cs typeface="Aptos"/>
              </a:rPr>
              <a:t>configurações e dicionários</a:t>
            </a:r>
          </a:p>
        </p:txBody>
      </p:sp>
    </p:spTree>
    <p:extLst>
      <p:ext uri="{BB962C8B-B14F-4D97-AF65-F5344CB8AC3E}">
        <p14:creationId xmlns:p14="http://schemas.microsoft.com/office/powerpoint/2010/main" val="1181188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2026-06-23T15:27:50.5920000Z</dcterms:created>
  <dcterms:modified xsi:type="dcterms:W3CDTF">2026-06-23T15:27:50.5920000Z</dcterms:modified>
</coreProperties>
</file>